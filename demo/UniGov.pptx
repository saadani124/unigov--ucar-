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3941" y="1282303"/>
            <a:ext cx="70359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UniGov : UCAR AI Platform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33124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Système d'Exploitation Intelligent pour la Gouvernance Universitaire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034308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Transformer les données en intelligence stratégique</a:t>
            </a:r>
            <a:endParaRPr lang="en-US" sz="6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53" y="563404"/>
            <a:ext cx="5327094" cy="7102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44565" y="447318"/>
            <a:ext cx="3987165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Problématique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044565" y="1113830"/>
            <a:ext cx="802767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Les universités du réseau UCAR naviguent dans un environnement de données fragmenté, sans vision unifiée ni capacité d'anticipation.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044565" y="1674495"/>
            <a:ext cx="8027670" cy="1442918"/>
          </a:xfrm>
          <a:prstGeom prst="roundRect">
            <a:avLst>
              <a:gd name="adj" fmla="val 1658"/>
            </a:avLst>
          </a:prstGeom>
          <a:solidFill>
            <a:srgbClr val="373433"/>
          </a:solidFill>
          <a:ln/>
        </p:spPr>
      </p:sp>
      <p:sp>
        <p:nvSpPr>
          <p:cNvPr id="7" name="Shape 4"/>
          <p:cNvSpPr/>
          <p:nvPr/>
        </p:nvSpPr>
        <p:spPr>
          <a:xfrm>
            <a:off x="6203990" y="1833920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C49F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5554" y="1965484"/>
            <a:ext cx="215265" cy="2152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03990" y="2424351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Données fragmentées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203990" y="2740700"/>
            <a:ext cx="770882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PDF, Excel, CSV isolés sans source unique de vérité.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44565" y="3229451"/>
            <a:ext cx="8027670" cy="1442918"/>
          </a:xfrm>
          <a:prstGeom prst="roundRect">
            <a:avLst>
              <a:gd name="adj" fmla="val 1658"/>
            </a:avLst>
          </a:prstGeom>
          <a:solidFill>
            <a:srgbClr val="373433"/>
          </a:solidFill>
          <a:ln/>
        </p:spPr>
      </p:sp>
      <p:sp>
        <p:nvSpPr>
          <p:cNvPr id="12" name="Shape 8"/>
          <p:cNvSpPr/>
          <p:nvPr/>
        </p:nvSpPr>
        <p:spPr>
          <a:xfrm>
            <a:off x="6203990" y="3388876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C49F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5554" y="3520440"/>
            <a:ext cx="215265" cy="2152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03990" y="3979307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Zéro centralisation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203990" y="4295656"/>
            <a:ext cx="770882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Aucun système d'analyse transversal entre institutions.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44565" y="4784408"/>
            <a:ext cx="8027670" cy="1442918"/>
          </a:xfrm>
          <a:prstGeom prst="roundRect">
            <a:avLst>
              <a:gd name="adj" fmla="val 1658"/>
            </a:avLst>
          </a:prstGeom>
          <a:solidFill>
            <a:srgbClr val="373433"/>
          </a:solidFill>
          <a:ln/>
        </p:spPr>
      </p:sp>
      <p:sp>
        <p:nvSpPr>
          <p:cNvPr id="17" name="Shape 12"/>
          <p:cNvSpPr/>
          <p:nvPr/>
        </p:nvSpPr>
        <p:spPr>
          <a:xfrm>
            <a:off x="6203990" y="4943832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C49F8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5554" y="5075396"/>
            <a:ext cx="215265" cy="2152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03990" y="5534263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Décision réactive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203990" y="5850612"/>
            <a:ext cx="770882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 de prédictions. Réponse tardive aux crises.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044565" y="6339364"/>
            <a:ext cx="8027670" cy="1442918"/>
          </a:xfrm>
          <a:prstGeom prst="roundRect">
            <a:avLst>
              <a:gd name="adj" fmla="val 1658"/>
            </a:avLst>
          </a:prstGeom>
          <a:solidFill>
            <a:srgbClr val="373433"/>
          </a:solidFill>
          <a:ln/>
        </p:spPr>
      </p:sp>
      <p:sp>
        <p:nvSpPr>
          <p:cNvPr id="22" name="Shape 16"/>
          <p:cNvSpPr/>
          <p:nvPr/>
        </p:nvSpPr>
        <p:spPr>
          <a:xfrm>
            <a:off x="6203990" y="6498788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C49F8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5554" y="6630353"/>
            <a:ext cx="215265" cy="2152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03990" y="7089219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Manque d'anticipation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203990" y="7405568"/>
            <a:ext cx="770882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Aucune alerte proactive ni simulation de scénarios.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0545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Solution : UniGov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81125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Une plateforme centralisée, pilotée par l'IA, qui unifie ingestion, analyse, visualisation et assistance intelligente en un seul écosystème.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823" y="1789271"/>
            <a:ext cx="12126516" cy="5229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67820" y="6026840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Assistant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067820" y="4816358"/>
            <a:ext cx="2751094" cy="34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Tableaux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2067820" y="3618104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Analyse IA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067820" y="2407623"/>
            <a:ext cx="2751094" cy="34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Ingestion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201460" y="7174230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UniGov connecte toutes les institutions UCAR à une intelligence opérationnelle commune — transformant des silos de données en leviers de décision stratégique.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3354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Architecture des données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1772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 modèle relationnel robuste hébergé sur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Supabase PostgreSQL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avec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Row-Level Security (RLS)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pour un contrôle granulaire des accès.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010507"/>
            <a:ext cx="6244709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Historique sur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12 mois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+ prédictions via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period_date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Contraintes d'unicité pour prévenir les doublons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Requêtes optimisées avec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et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" y="601147"/>
            <a:ext cx="5270302" cy="7027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2" y="971312"/>
            <a:ext cx="7621429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Tableaux de bord multi-niveaux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6243042" y="1956078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2562" y="1956078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C49F8C"/>
          </a:solidFill>
          <a:ln/>
        </p:spPr>
      </p:sp>
      <p:sp>
        <p:nvSpPr>
          <p:cNvPr id="7" name="Text 4"/>
          <p:cNvSpPr/>
          <p:nvPr/>
        </p:nvSpPr>
        <p:spPr>
          <a:xfrm>
            <a:off x="6581061" y="220265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Global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81061" y="2664023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Agrégation multi-institutions en temps réel. Requêtes optimisées atteignant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~100ms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 performance.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3042" y="3792141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2562" y="3792141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C49F8C"/>
          </a:solidFill>
          <a:ln/>
        </p:spPr>
      </p:sp>
      <p:sp>
        <p:nvSpPr>
          <p:cNvPr id="11" name="Text 8"/>
          <p:cNvSpPr/>
          <p:nvPr/>
        </p:nvSpPr>
        <p:spPr>
          <a:xfrm>
            <a:off x="6581061" y="4038719"/>
            <a:ext cx="302442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Institutionnel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81061" y="4500086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Analyse détaillée par établissement avec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score de santé dynamique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calculé automatiquement.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3042" y="5628203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2562" y="5628203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C49F8C"/>
          </a:solidFill>
          <a:ln/>
        </p:spPr>
      </p:sp>
      <p:sp>
        <p:nvSpPr>
          <p:cNvPr id="15" name="Text 12"/>
          <p:cNvSpPr/>
          <p:nvPr/>
        </p:nvSpPr>
        <p:spPr>
          <a:xfrm>
            <a:off x="6581061" y="587478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Visualisation Chart.js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581061" y="6336149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Graphiques interactifs à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échelle dynamique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actualisés en continu selon les KPI ingérés.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21" y="582335"/>
            <a:ext cx="5298638" cy="70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43744" y="754737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Moteur d'analyse IA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143744" y="1749862"/>
            <a:ext cx="2442448" cy="1942028"/>
          </a:xfrm>
          <a:prstGeom prst="roundRect">
            <a:avLst>
              <a:gd name="adj" fmla="val 1451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6331506" y="1937623"/>
            <a:ext cx="2066925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Détection d'anomalies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31506" y="2680097"/>
            <a:ext cx="206692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Z-Score &gt; 2.5 σ — expliqué en langage naturel via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GPT-4o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43744" y="3847386"/>
            <a:ext cx="2442448" cy="1648539"/>
          </a:xfrm>
          <a:prstGeom prst="roundRect">
            <a:avLst>
              <a:gd name="adj" fmla="val 1709"/>
            </a:avLst>
          </a:prstGeom>
          <a:solidFill>
            <a:srgbClr val="373433"/>
          </a:solidFill>
          <a:ln/>
        </p:spPr>
      </p:sp>
      <p:sp>
        <p:nvSpPr>
          <p:cNvPr id="9" name="Text 6"/>
          <p:cNvSpPr/>
          <p:nvPr/>
        </p:nvSpPr>
        <p:spPr>
          <a:xfrm>
            <a:off x="6331506" y="4035147"/>
            <a:ext cx="206692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Prédictions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31506" y="4484132"/>
            <a:ext cx="206692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Régression linéaire + séries temporelles de 1 mois à un an  glissants.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43744" y="5651421"/>
            <a:ext cx="2442448" cy="1648539"/>
          </a:xfrm>
          <a:prstGeom prst="roundRect">
            <a:avLst>
              <a:gd name="adj" fmla="val 1709"/>
            </a:avLst>
          </a:prstGeom>
          <a:solidFill>
            <a:srgbClr val="373433"/>
          </a:solidFill>
          <a:ln/>
        </p:spPr>
      </p:sp>
      <p:sp>
        <p:nvSpPr>
          <p:cNvPr id="12" name="Text 9"/>
          <p:cNvSpPr/>
          <p:nvPr/>
        </p:nvSpPr>
        <p:spPr>
          <a:xfrm>
            <a:off x="6331506" y="5839182"/>
            <a:ext cx="206692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Simulation What-If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31506" y="6288167"/>
            <a:ext cx="206692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Corrélation de Pearson pour modéliser l'impact des décisions.</a:t>
            </a:r>
            <a:endParaRPr lang="en-US" sz="14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965" y="3062288"/>
            <a:ext cx="4928592" cy="2925128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6144" y="3777237"/>
            <a:ext cx="419565" cy="4195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82337" y="5308915"/>
            <a:ext cx="1225132" cy="23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Simulation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20139" y="3778024"/>
            <a:ext cx="419566" cy="4195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38334" y="5308915"/>
            <a:ext cx="1225132" cy="23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Prédiction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6136" y="3778024"/>
            <a:ext cx="419566" cy="41956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369157" y="5308915"/>
            <a:ext cx="1225133" cy="23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Détection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5527"/>
            <a:ext cx="96644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Assistant IA &amp; Intelligence Stratégique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7934"/>
            <a:ext cx="13042821" cy="748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 copilote intelligent qui traduit le langage naturel en requêtes SQL sécurisées (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uniquement) et génère des recommandations pour l'ensemble du réseau UCAR.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21750"/>
            <a:ext cx="1829753" cy="18297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634990"/>
            <a:ext cx="3130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Interface langage naturel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12540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Les décideurs posent des questions en français, sans écrire de code.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521750"/>
            <a:ext cx="1829753" cy="18297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5634990"/>
            <a:ext cx="32138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Traduction SQL sécurisée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6125408"/>
            <a:ext cx="4158615" cy="748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Génération automatique de requêtes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validées côté backend.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521750"/>
            <a:ext cx="1829753" cy="18297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5634990"/>
            <a:ext cx="39463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Recommandations stratégiques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612540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Analyse globale UCAR et suggestions priorisées par GPT-4o.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115735"/>
            <a:ext cx="8284131" cy="4526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6203" y="3236789"/>
            <a:ext cx="1919489" cy="261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 CSV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733240" y="3207336"/>
            <a:ext cx="1919489" cy="261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Validation KPI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365435" y="3216767"/>
            <a:ext cx="1919489" cy="261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Déduplication DB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38943" y="1669494"/>
            <a:ext cx="4205168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Pipeline d'ingestion &amp; Alertes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9638943" y="4022646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 pipeline de données rigoureux garantit l'intégrité de chaque KPI ingéré dans le système.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6159818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0906" y="6152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Parser CSV intelligent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30906" y="6643211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Lecture et normalisation automatique des formats hétérogènes.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1895" y="6159818"/>
            <a:ext cx="340162" cy="3401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94000" y="6152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Alertes automatiques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194000" y="6643211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Déclenchement par seuils KPI — résolution admin avec historique conservé.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632222"/>
            <a:ext cx="8368427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Sécurité, Rôles &amp; Architecture Système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659969"/>
            <a:ext cx="2921318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Sécurité &amp; Contrôle d'accès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2228" y="2131933"/>
            <a:ext cx="639520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Authentification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JWT Supabase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+ intercepteur frontend (auto-logout). RLS actif sur toutes les tables.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560588" y="165996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Stack technique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560588" y="2152888"/>
            <a:ext cx="6395204" cy="3090148"/>
          </a:xfrm>
          <a:prstGeom prst="roundRect">
            <a:avLst>
              <a:gd name="adj" fmla="val 94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63232" y="2268617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56965" y="2268617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Angular 17+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63232" y="2782372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56965" y="2782372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FastAPI (Python)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63232" y="3296126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56965" y="3296126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Supabase PostgreSQL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63232" y="3809881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56965" y="3809881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GPT-4o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63232" y="4323636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Visualisation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56965" y="4323636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Chart.js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63232" y="4837390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56965" y="4837390"/>
            <a:ext cx="279630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FPDF + Pandas/Openpyxl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2228" y="5619750"/>
            <a:ext cx="4310301" cy="1977628"/>
          </a:xfrm>
          <a:prstGeom prst="roundRect">
            <a:avLst>
              <a:gd name="adj" fmla="val 1479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088" y="5642610"/>
            <a:ext cx="4264581" cy="584716"/>
          </a:xfrm>
          <a:prstGeom prst="roundRect">
            <a:avLst>
              <a:gd name="adj" fmla="val 309"/>
            </a:avLst>
          </a:prstGeom>
          <a:solidFill>
            <a:srgbClr val="373433"/>
          </a:solidFill>
          <a:ln/>
        </p:spPr>
      </p:sp>
      <p:sp>
        <p:nvSpPr>
          <p:cNvPr id="21" name="Text 19"/>
          <p:cNvSpPr/>
          <p:nvPr/>
        </p:nvSpPr>
        <p:spPr>
          <a:xfrm>
            <a:off x="2691170" y="5752267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99993" y="639472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Super Admin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99993" y="6799778"/>
            <a:ext cx="387477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Vision et contrôle global sur toutes les institutions UCAR.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159931" y="5619750"/>
            <a:ext cx="4310420" cy="1977628"/>
          </a:xfrm>
          <a:prstGeom prst="roundRect">
            <a:avLst>
              <a:gd name="adj" fmla="val 1479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2791" y="5642610"/>
            <a:ext cx="4264700" cy="584716"/>
          </a:xfrm>
          <a:prstGeom prst="roundRect">
            <a:avLst>
              <a:gd name="adj" fmla="val 309"/>
            </a:avLst>
          </a:prstGeom>
          <a:solidFill>
            <a:srgbClr val="373433"/>
          </a:solidFill>
          <a:ln/>
        </p:spPr>
      </p:sp>
      <p:sp>
        <p:nvSpPr>
          <p:cNvPr id="26" name="Text 24"/>
          <p:cNvSpPr/>
          <p:nvPr/>
        </p:nvSpPr>
        <p:spPr>
          <a:xfrm>
            <a:off x="7168991" y="5752267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5377696" y="639472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377696" y="6799778"/>
            <a:ext cx="387488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Gestion complète d'une institution avec résolution d'alertes.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37752" y="5619750"/>
            <a:ext cx="4310420" cy="1977628"/>
          </a:xfrm>
          <a:prstGeom prst="roundRect">
            <a:avLst>
              <a:gd name="adj" fmla="val 1479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60612" y="5642610"/>
            <a:ext cx="4264700" cy="584716"/>
          </a:xfrm>
          <a:prstGeom prst="roundRect">
            <a:avLst>
              <a:gd name="adj" fmla="val 309"/>
            </a:avLst>
          </a:prstGeom>
          <a:solidFill>
            <a:srgbClr val="373433"/>
          </a:solidFill>
          <a:ln/>
        </p:spPr>
      </p:sp>
      <p:sp>
        <p:nvSpPr>
          <p:cNvPr id="31" name="Text 29"/>
          <p:cNvSpPr/>
          <p:nvPr/>
        </p:nvSpPr>
        <p:spPr>
          <a:xfrm>
            <a:off x="11646813" y="5752267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9855518" y="639472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Agent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855518" y="6799778"/>
            <a:ext cx="387488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Accès lecture seule — consultation des dashboards.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756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UniGov — L'Avenir de la Gouvernance Universitaire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8333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UniGov transforme les données universitaires en un actif stratégique.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814286"/>
            <a:ext cx="7556421" cy="3339703"/>
          </a:xfrm>
          <a:prstGeom prst="roundRect">
            <a:avLst>
              <a:gd name="adj" fmla="val 1019"/>
            </a:avLst>
          </a:prstGeom>
          <a:solidFill>
            <a:srgbClr val="373433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3814286"/>
            <a:ext cx="3778210" cy="2032754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40411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 immédiat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4531519"/>
            <a:ext cx="33245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Décision plus rapide, gouvernance data-driven, vision globale UCAR.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3814286"/>
            <a:ext cx="3778210" cy="2032754"/>
          </a:xfrm>
          <a:prstGeom prst="rect">
            <a:avLst/>
          </a:prstGeom>
          <a:solidFill>
            <a:srgbClr val="373433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3814286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</p:sp>
      <p:sp>
        <p:nvSpPr>
          <p:cNvPr id="12" name="Text 9"/>
          <p:cNvSpPr/>
          <p:nvPr/>
        </p:nvSpPr>
        <p:spPr>
          <a:xfrm>
            <a:off x="4798814" y="40411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Scalabilité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98814" y="4531519"/>
            <a:ext cx="33245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Architecture multi-institutions prête pour une intégration nationale.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847040"/>
            <a:ext cx="7556421" cy="1306949"/>
          </a:xfrm>
          <a:prstGeom prst="rect">
            <a:avLst/>
          </a:prstGeom>
          <a:solidFill>
            <a:srgbClr val="373433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5847040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6073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Perspectives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656427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Streaming temps réel, modèles ML avancés, automatisation complète.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2026-04-26T09:31:45Z</dcterms:created>
  <dcterms:modified xsi:type="dcterms:W3CDTF">2026-04-26T09:31:45Z</dcterms:modified>
</cp:coreProperties>
</file>